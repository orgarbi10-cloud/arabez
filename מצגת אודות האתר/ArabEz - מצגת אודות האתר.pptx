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88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5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7432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3258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 rot="2700000">
            <a:off x="29260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 rot="2700000">
            <a:off x="45262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 rot="2700000">
            <a:off x="61264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 rot="2700000">
            <a:off x="77266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 rot="2700000">
            <a:off x="93268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 rot="2700000">
            <a:off x="109270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 rot="2700000">
            <a:off x="-27432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 rot="2700000">
            <a:off x="13258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 rot="2700000">
            <a:off x="29260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 rot="2700000">
            <a:off x="45262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 rot="2700000">
            <a:off x="61264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 rot="2700000">
            <a:off x="77266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 rot="2700000">
            <a:off x="93268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 rot="2700000">
            <a:off x="109270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 rot="2700000">
            <a:off x="-27432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 rot="2700000">
            <a:off x="13258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 rot="2700000">
            <a:off x="29260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 rot="2700000">
            <a:off x="45262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 rot="2700000">
            <a:off x="61264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 rot="2700000">
            <a:off x="77266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 rot="2700000">
            <a:off x="93268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 rot="2700000">
            <a:off x="109270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 rot="2700000">
            <a:off x="-27432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 rot="2700000">
            <a:off x="13258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 rot="2700000">
            <a:off x="29260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 rot="2700000">
            <a:off x="45262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 rot="2700000">
            <a:off x="61264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31" name="Shape 29"/>
          <p:cNvSpPr/>
          <p:nvPr/>
        </p:nvSpPr>
        <p:spPr>
          <a:xfrm rot="2700000">
            <a:off x="77266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 rot="2700000">
            <a:off x="93268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 rot="2700000">
            <a:off x="109270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 rot="2700000">
            <a:off x="-27432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 rot="2700000">
            <a:off x="13258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 rot="2700000">
            <a:off x="29260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 rot="2700000">
            <a:off x="45262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 rot="2700000">
            <a:off x="61264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 rot="2700000">
            <a:off x="77266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 rot="2700000">
            <a:off x="93268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 rot="2700000">
            <a:off x="109270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5318608" y="1417320"/>
            <a:ext cx="1554480" cy="15544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3" name="Text 41"/>
          <p:cNvSpPr/>
          <p:nvPr/>
        </p:nvSpPr>
        <p:spPr>
          <a:xfrm>
            <a:off x="5318608" y="14173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en-US" sz="6000" dirty="0"/>
          </a:p>
        </p:txBody>
      </p:sp>
      <p:sp>
        <p:nvSpPr>
          <p:cNvPr id="44" name="Text 42"/>
          <p:cNvSpPr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5400" b="1" dirty="0">
                <a:solidFill>
                  <a:srgbClr val="E0C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5400" dirty="0"/>
          </a:p>
        </p:txBody>
      </p:sp>
      <p:sp>
        <p:nvSpPr>
          <p:cNvPr id="45" name="Text 43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0C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ערבית בקלות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מצגת היכרות עם האתר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 לפרויקט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מטרת האתר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i="1" dirty="0" err="1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לימוד</a:t>
            </a:r>
            <a:r>
              <a:rPr lang="en-US" sz="150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ערבית ספרותית ואסלאם — הנגשת למידה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868680" y="228600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9" name="Image 0" descr="/sessions/happy-inspiring-mayer/mnt/outputs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3" y="24220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3042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 מרכזית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063240"/>
            <a:ext cx="4434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4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להנגיש ללומדים דוברי עברית דרך לימוד נעימה, ויזואלית ומדויקת לערבית ספרותית (MSA) — מאוצר מילים ודקדוק ועד הקשר תרבותי-דתי — הכול בפלטפורמה סטטית אחת, ללא התקנה, שרת או תשלום.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9921240" y="20116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0"/>
          <p:cNvSpPr/>
          <p:nvPr/>
        </p:nvSpPr>
        <p:spPr>
          <a:xfrm>
            <a:off x="9921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8932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נגישות מלאה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89320" y="235000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כולו בעברית, תוכן דו-לשוני עברית-ערבית עם תעתיק עיצורי עקבי לצד ניקוד מלא.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921240" y="34290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99212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989320" y="3383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דיוק דקדוקי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989320" y="376732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נטיית פעלים דטרמיניסטי ומבוסס-כללים בזמן ריצה — כדי שלא תהיה אף טעות, בלי ניחוש ובלי בינה מלאכותית.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921240" y="48463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8"/>
          <p:cNvSpPr/>
          <p:nvPr/>
        </p:nvSpPr>
        <p:spPr>
          <a:xfrm>
            <a:off x="99212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989320" y="48006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 להרחבה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5989320" y="518464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תוכן לימודי יושב בקבצי נתונים נפרדים, כך שקל להוסיף פרקים ופעלים בעתיד.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ומוטיבציה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יש צורך באתר כזה?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2025396" y="2258568"/>
            <a:ext cx="566928" cy="56692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8" name="Image 0" descr="/sessions/happy-inspiring-mayer/mnt/outputs/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459" y="2394631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 בשוק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42900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לומדים דוברי עברית מתמודדים עם מיעוט חומרי לימוד מסודרים לערבית ספרותית, בעיקר בנושא נטיית הפעלים (הבניינים).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96596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9"/>
          <p:cNvSpPr/>
          <p:nvPr/>
        </p:nvSpPr>
        <p:spPr>
          <a:xfrm>
            <a:off x="5865876" y="2258568"/>
            <a:ext cx="566928" cy="56692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1" descr="/sessions/happy-inspiring-mayer/mnt/outputs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939" y="2394631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דיוק לעומת ניחוש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42900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 רבים מסתמכים על ניחוש. כאן כל נטיית פועל מיוצרת ע"י אלגוריתם קבוע ומבוסס-כללים — בלי מקום לטעות.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0" y="196596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3"/>
          <p:cNvSpPr/>
          <p:nvPr/>
        </p:nvSpPr>
        <p:spPr>
          <a:xfrm>
            <a:off x="9706356" y="2258568"/>
            <a:ext cx="566928" cy="56692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2" descr="/sessions/happy-inspiring-mayer/mnt/outputs/icons/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419" y="2394631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גישור לשוני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58200" y="342900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 ערבי מנוקד לצד תעתיק עיצורי עקבי מאפשרים גישה גם למי שרק מתחיל לקרוא ערבית.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5166360"/>
            <a:ext cx="11201400" cy="1051560"/>
          </a:xfrm>
          <a:prstGeom prst="roundRect">
            <a:avLst>
              <a:gd name="adj" fmla="val 10435"/>
            </a:avLst>
          </a:prstGeom>
          <a:solidFill>
            <a:srgbClr val="095C5B"/>
          </a:solidFill>
          <a:ln w="12700">
            <a:solidFill>
              <a:srgbClr val="095C5B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2" name="Text 17"/>
          <p:cNvSpPr/>
          <p:nvPr/>
        </p:nvSpPr>
        <p:spPr>
          <a:xfrm>
            <a:off x="914400" y="5166360"/>
            <a:ext cx="10469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"הכלי הכי טוב ללימוד ערבית ספרותית הוא זה שמלמד את הכללים לעומק — לא רק רשימת מילים לשינון."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קהל היעד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למי מיועד האתר?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8" name="Image 0" descr="/sessions/happy-inspiring-mayer/mnt/outputs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3" y="242206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3042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הלומד?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4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דוברי עברית מכל הגילאים — תלמידים, סטודנטים וכל מי שרוצה לרכוש בסיס אמיתי בערבית ספרותית (MSA), מאפס או לחיזוק ידע קיים. האתר בנוי כך שילמד היטב גם במובייל, שם קורית רוב הלמידה בפועל.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2637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9"/>
          <p:cNvSpPr/>
          <p:nvPr/>
        </p:nvSpPr>
        <p:spPr>
          <a:xfrm>
            <a:off x="6492240" y="2286000"/>
            <a:ext cx="566928" cy="56692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1" descr="/sessions/happy-inspiring-mayer/mnt/outputs/icons/ale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3" y="242206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3042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האתגרים שלהם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92240" y="30632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קושי למצוא חומר לימוד מסודר ועקבי בעברית</a:t>
            </a:r>
            <a:endParaRPr lang="en-US" sz="135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ניקוד וכתיב ערבי שקשה לפענח ללא תעתיק מדויק</a:t>
            </a:r>
            <a:endParaRPr lang="en-US" sz="135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נטיית פעלים מורכבת (8 בניינים שונים) שקל לטעות בה</a:t>
            </a:r>
            <a:endParaRPr lang="en-US" sz="135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350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צורך בתרגול חוזר ומשוב מיידי כדי שהחומר "יידבק"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האתר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למידה באתר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מהכניסה הראשונה ועד שליטה בשפה — חמישה תחנות עיקריות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9692" y="2606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0137496" y="27706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0137496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11132" y="32918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עמוד הבית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6200000">
            <a:off x="9145372" y="3172968"/>
            <a:ext cx="237744" cy="237744"/>
          </a:xfrm>
          <a:prstGeom prst="triangle">
            <a:avLst/>
          </a:prstGeom>
          <a:solidFill>
            <a:srgbClr val="6B5F5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7289140" y="2606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4FA9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8006944" y="27706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8006944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A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80580" y="32918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אוצר מילים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rot="16200000">
            <a:off x="7014820" y="3172968"/>
            <a:ext cx="237744" cy="237744"/>
          </a:xfrm>
          <a:prstGeom prst="triangle">
            <a:avLst/>
          </a:prstGeom>
          <a:solidFill>
            <a:srgbClr val="6B5F5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5158588" y="2606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5876392" y="27706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876392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0028" y="32918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פעלים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16200000">
            <a:off x="4884268" y="3172968"/>
            <a:ext cx="237744" cy="237744"/>
          </a:xfrm>
          <a:prstGeom prst="triangle">
            <a:avLst/>
          </a:prstGeom>
          <a:solidFill>
            <a:srgbClr val="6B5F5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3028036" y="2606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DD725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3745840" y="27706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3745840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D7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19476" y="32918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חוקי השפה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rot="16200000">
            <a:off x="2753716" y="3172968"/>
            <a:ext cx="237744" cy="237744"/>
          </a:xfrm>
          <a:prstGeom prst="triangle">
            <a:avLst/>
          </a:prstGeom>
          <a:solidFill>
            <a:srgbClr val="6B5F5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897484" y="2606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1615288" y="27706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1615288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8924" y="32918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אסלאם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100920" y="429768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2" name="Image 0" descr="/sessions/happy-inspiring-mayer/mnt/outputs/icons/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815" y="4420575"/>
            <a:ext cx="266273" cy="26627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053932" y="4937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היכרות עם האתר ובחירת נושא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970368" y="4297680"/>
            <a:ext cx="512064" cy="512064"/>
          </a:xfrm>
          <a:prstGeom prst="ellipse">
            <a:avLst/>
          </a:prstGeom>
          <a:solidFill>
            <a:srgbClr val="4FA9A8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5" name="Image 1" descr="/sessions/happy-inspiring-mayer/mnt/outputs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263" y="4420575"/>
            <a:ext cx="266273" cy="266273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923380" y="4937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פרקים · 400 מילים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5839816" y="429768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8" name="Image 2" descr="/sessions/happy-inspiring-mayer/mnt/outputs/icons/rep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711" y="4420575"/>
            <a:ext cx="266273" cy="26627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792828" y="4937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שורשים · 8 בניינים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3709264" y="4297680"/>
            <a:ext cx="512064" cy="512064"/>
          </a:xfrm>
          <a:prstGeom prst="ellipse">
            <a:avLst/>
          </a:prstGeom>
          <a:solidFill>
            <a:srgbClr val="DD725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1" name="Image 3" descr="/sessions/happy-inspiring-mayer/mnt/outputs/icons/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159" y="4420575"/>
            <a:ext cx="266273" cy="266273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2662276" y="4937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טבלאות עיון מלאות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1578712" y="4297680"/>
            <a:ext cx="512064" cy="512064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4" name="Image 4" descr="/sessions/happy-inspiring-mayer/mnt/outputs/icons/mosqu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607" y="4420575"/>
            <a:ext cx="266273" cy="266273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31724" y="4937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תרבותי-דתי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731520" y="59893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שלב אפשר לנווט חופשי בלי רענון עמוד, וחיפוש חופשי זמין תמיד מסרגל הניווט העליון.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הלב הטכנולוגי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מנוע נטיית הפעלים עובד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אלגוריתם דטרמיניסטי ומבוסס-כללים בזמן ריצה — בלי ניחוש ובלי בינה מלאכותית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3246120"/>
            <a:ext cx="10088575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 rot="5400000">
            <a:off x="1005840" y="3136392"/>
            <a:ext cx="256032" cy="219456"/>
          </a:xfrm>
          <a:prstGeom prst="triangl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9751047" y="3118104"/>
            <a:ext cx="256032" cy="256032"/>
          </a:xfrm>
          <a:prstGeom prst="ellipse">
            <a:avLst/>
          </a:prstGeom>
          <a:solidFill>
            <a:srgbClr val="095C5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9879063" y="2788920"/>
            <a:ext cx="0" cy="457200"/>
          </a:xfrm>
          <a:prstGeom prst="line">
            <a:avLst/>
          </a:prstGeom>
          <a:noFill/>
          <a:ln w="12700">
            <a:solidFill>
              <a:srgbClr val="6B5F5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9623031" y="233172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2" name="Image 0" descr="/sessions/happy-inspiring-mayer/mnt/outputs/icons/ha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927" y="2454615"/>
            <a:ext cx="266273" cy="26627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778011" y="1572768"/>
            <a:ext cx="2202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בחירת שורש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78011" y="1938528"/>
            <a:ext cx="22021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שורש תלת-עיצורי (למשל כ-ת-ב) מתוך 40 שורשים "סאלמים" במאגר.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28904" y="3118104"/>
            <a:ext cx="256032" cy="256032"/>
          </a:xfrm>
          <a:prstGeom prst="ellipse">
            <a:avLst/>
          </a:prstGeom>
          <a:solidFill>
            <a:srgbClr val="095C5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3"/>
          <p:cNvSpPr/>
          <p:nvPr/>
        </p:nvSpPr>
        <p:spPr>
          <a:xfrm>
            <a:off x="7356919" y="3374136"/>
            <a:ext cx="0" cy="192024"/>
          </a:xfrm>
          <a:prstGeom prst="line">
            <a:avLst/>
          </a:prstGeom>
          <a:noFill/>
          <a:ln w="12700">
            <a:solidFill>
              <a:srgbClr val="6B5F5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4"/>
          <p:cNvSpPr/>
          <p:nvPr/>
        </p:nvSpPr>
        <p:spPr>
          <a:xfrm>
            <a:off x="7100887" y="356616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1" descr="/sessions/happy-inspiring-mayer/mnt/outputs/icons/layou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83" y="3689055"/>
            <a:ext cx="266273" cy="26627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55868" y="4133088"/>
            <a:ext cx="2202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הטמעה בבניין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255868" y="4498848"/>
            <a:ext cx="22021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השורש מוכנס לאחת מ-8 תבניות בניין קבועות (I–VIII, X).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706760" y="3118104"/>
            <a:ext cx="256032" cy="256032"/>
          </a:xfrm>
          <a:prstGeom prst="ellipse">
            <a:avLst/>
          </a:prstGeom>
          <a:solidFill>
            <a:srgbClr val="095C5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18"/>
          <p:cNvSpPr/>
          <p:nvPr/>
        </p:nvSpPr>
        <p:spPr>
          <a:xfrm>
            <a:off x="4834776" y="2788920"/>
            <a:ext cx="0" cy="457200"/>
          </a:xfrm>
          <a:prstGeom prst="line">
            <a:avLst/>
          </a:prstGeom>
          <a:noFill/>
          <a:ln w="12700">
            <a:solidFill>
              <a:srgbClr val="6B5F5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19"/>
          <p:cNvSpPr/>
          <p:nvPr/>
        </p:nvSpPr>
        <p:spPr>
          <a:xfrm>
            <a:off x="4578744" y="233172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4" name="Image 2" descr="/sessions/happy-inspiring-mayer/mnt/outputs/icons/rep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639" y="2454615"/>
            <a:ext cx="266273" cy="26627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33724" y="1572768"/>
            <a:ext cx="2202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כללי גוף וזמן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733724" y="1938528"/>
            <a:ext cx="22021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טבלת סיומות ותחיליות אוניברסלית — זהה בכל הבניינים.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2184616" y="3118104"/>
            <a:ext cx="256032" cy="256032"/>
          </a:xfrm>
          <a:prstGeom prst="ellipse">
            <a:avLst/>
          </a:prstGeom>
          <a:solidFill>
            <a:srgbClr val="095C5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3"/>
          <p:cNvSpPr/>
          <p:nvPr/>
        </p:nvSpPr>
        <p:spPr>
          <a:xfrm>
            <a:off x="2312632" y="3374136"/>
            <a:ext cx="0" cy="192024"/>
          </a:xfrm>
          <a:prstGeom prst="line">
            <a:avLst/>
          </a:prstGeom>
          <a:noFill/>
          <a:ln w="12700">
            <a:solidFill>
              <a:srgbClr val="6B5F5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4"/>
          <p:cNvSpPr/>
          <p:nvPr/>
        </p:nvSpPr>
        <p:spPr>
          <a:xfrm>
            <a:off x="2056600" y="356616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0" name="Image 3" descr="/sessions/happy-inspiring-mayer/mnt/outputs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9495" y="3689055"/>
            <a:ext cx="266273" cy="26627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11580" y="4133088"/>
            <a:ext cx="2202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הצורה הסופית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211580" y="4498848"/>
            <a:ext cx="22021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נטייה מלאה בעבר / הווה-עתיד / ציווי / מצדר, עם ניקוד + תעתיק.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1280160" y="5989320"/>
            <a:ext cx="9631375" cy="548640"/>
          </a:xfrm>
          <a:prstGeom prst="roundRect">
            <a:avLst>
              <a:gd name="adj" fmla="val 50000"/>
            </a:avLst>
          </a:prstGeom>
          <a:solidFill>
            <a:srgbClr val="095C5B"/>
          </a:solidFill>
          <a:ln w="12700">
            <a:solidFill>
              <a:srgbClr val="095C5B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Text 28"/>
          <p:cNvSpPr/>
          <p:nvPr/>
        </p:nvSpPr>
        <p:spPr>
          <a:xfrm>
            <a:off x="1463040" y="5989320"/>
            <a:ext cx="9265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בדיקת QA: 40 שורשים × 8 בניינים × כל הגופים והזמנים — נבדק אל מול טבלאות הבניינים, ללא שגיאת קונסולה אחת.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הפתרון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האתר מציע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63640" y="18745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פלטפורמה חד-עמודית (SPA) ללימוד ערבית ספרותית — נטענת ישירות בדפדפן, ללא התקנה, שרת או תשלום.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2697480"/>
            <a:ext cx="5394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400 מילים ב-10 פרקים, עם כרטיסיות היפוך ובוחן לכל פרק</a:t>
            </a:r>
            <a:endParaRPr lang="en-US" sz="13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מנוע נטיית פעלים דטרמיניסטי ל-40 שורשים ו-8 בניינים</a:t>
            </a:r>
            <a:endParaRPr lang="en-US" sz="13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שני מצבי תרגול: "זהה את הפועל" ו"בנה את הפועל", עם מסך תוצאות</a:t>
            </a:r>
            <a:endParaRPr lang="en-US" sz="13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עמוד חוקי שפה עם טבלת נטייה מלאה לכל בניין</a:t>
            </a:r>
            <a:endParaRPr lang="en-US" sz="13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עמוד אסלאם: סונה מול שיעה, וחמשת עמודי האסלאם</a:t>
            </a:r>
            <a:endParaRPr lang="en-US" sz="13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שמירת התקדמות אישית ב-localStorage — בלי התחברות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5394960" cy="292608"/>
          </a:xfrm>
          <a:prstGeom prst="roundRect">
            <a:avLst>
              <a:gd name="adj" fmla="val 28125"/>
            </a:avLst>
          </a:prstGeom>
          <a:solidFill>
            <a:srgbClr val="095C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548640" y="2020824"/>
            <a:ext cx="5394960" cy="146304"/>
          </a:xfrm>
          <a:prstGeom prst="rect">
            <a:avLst/>
          </a:prstGeom>
          <a:solidFill>
            <a:srgbClr val="095C5B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5687568" y="1965960"/>
            <a:ext cx="109728" cy="10972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5486400" y="196596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5285232" y="1965960"/>
            <a:ext cx="109728" cy="109728"/>
          </a:xfrm>
          <a:prstGeom prst="ellipse">
            <a:avLst/>
          </a:prstGeom>
          <a:solidFill>
            <a:srgbClr val="4FA9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85800" y="18745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עמוד הבית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225856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095C5B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685800" y="23682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C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أهلاً وسهلاً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" y="28254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ברוכים הבאים לאתר ArabEz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1912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כאן תוכלו ללמוד ערבית ספרותית ותרבות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950208"/>
            <a:ext cx="1211580" cy="1234440"/>
          </a:xfrm>
          <a:prstGeom prst="roundRect">
            <a:avLst>
              <a:gd name="adj" fmla="val 6038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1099566" y="4114800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1" name="Image 0" descr="/sessions/happy-inspiring-mayer/mnt/outputs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738" y="4206972"/>
            <a:ext cx="199705" cy="19970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4608576"/>
            <a:ext cx="11201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 חופשי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988820" y="3950208"/>
            <a:ext cx="1211580" cy="1234440"/>
          </a:xfrm>
          <a:prstGeom prst="roundRect">
            <a:avLst>
              <a:gd name="adj" fmla="val 6038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1"/>
          <p:cNvSpPr/>
          <p:nvPr/>
        </p:nvSpPr>
        <p:spPr>
          <a:xfrm>
            <a:off x="2402586" y="4114800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5" name="Image 1" descr="/sessions/happy-inspiring-mayer/mnt/outputs/icons/lis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758" y="4206972"/>
            <a:ext cx="199705" cy="19970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034540" y="4608576"/>
            <a:ext cx="11201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חוקי השפה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291840" y="3950208"/>
            <a:ext cx="1211580" cy="1234440"/>
          </a:xfrm>
          <a:prstGeom prst="roundRect">
            <a:avLst>
              <a:gd name="adj" fmla="val 6038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4"/>
          <p:cNvSpPr/>
          <p:nvPr/>
        </p:nvSpPr>
        <p:spPr>
          <a:xfrm>
            <a:off x="3705606" y="4114800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9" name="Image 2" descr="/sessions/happy-inspiring-mayer/mnt/outputs/icons/rep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7778" y="4206972"/>
            <a:ext cx="199705" cy="19970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337560" y="4608576"/>
            <a:ext cx="11201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פעלים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594860" y="3950208"/>
            <a:ext cx="1211580" cy="1234440"/>
          </a:xfrm>
          <a:prstGeom prst="roundRect">
            <a:avLst>
              <a:gd name="adj" fmla="val 6038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27"/>
          <p:cNvSpPr/>
          <p:nvPr/>
        </p:nvSpPr>
        <p:spPr>
          <a:xfrm>
            <a:off x="5008626" y="4114800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3" name="Image 3" descr="/sessions/happy-inspiring-mayer/mnt/outputs/icons/boo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0798" y="4206972"/>
            <a:ext cx="199705" cy="19970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640580" y="4608576"/>
            <a:ext cx="11201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אוצר מילים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פיצ'רים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פיצ'רים מרכזיים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999427" cy="3977640"/>
          </a:xfrm>
          <a:prstGeom prst="roundRect">
            <a:avLst>
              <a:gd name="adj" fmla="val 5488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228314" y="237744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8" name="Image 0" descr="/sessions/happy-inspiring-mayer/mnt/outputs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933" y="253105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46120"/>
            <a:ext cx="172510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אוצר מילים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886200"/>
            <a:ext cx="1633667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25000"/>
              </a:lnSpc>
            </a:pPr>
            <a:r>
              <a:rPr lang="he-IL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400מילים, 10 פרקים, כרטיסיות ובוחן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822387" y="2011680"/>
            <a:ext cx="1999427" cy="3977640"/>
          </a:xfrm>
          <a:prstGeom prst="roundRect">
            <a:avLst>
              <a:gd name="adj" fmla="val 5488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9"/>
          <p:cNvSpPr/>
          <p:nvPr/>
        </p:nvSpPr>
        <p:spPr>
          <a:xfrm>
            <a:off x="3502061" y="2377440"/>
            <a:ext cx="640080" cy="640080"/>
          </a:xfrm>
          <a:prstGeom prst="ellipse">
            <a:avLst/>
          </a:prstGeom>
          <a:solidFill>
            <a:srgbClr val="4FA9A8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1" descr="/sessions/happy-inspiring-mayer/mnt/outputs/icons/repea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680" y="253105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59547" y="3246120"/>
            <a:ext cx="172510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פעלים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005267" y="3886200"/>
            <a:ext cx="1633667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שורשים, 8 בניינים, זיהוי ובנייה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96134" y="2011680"/>
            <a:ext cx="1999427" cy="3977640"/>
          </a:xfrm>
          <a:prstGeom prst="roundRect">
            <a:avLst>
              <a:gd name="adj" fmla="val 5488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3"/>
          <p:cNvSpPr/>
          <p:nvPr/>
        </p:nvSpPr>
        <p:spPr>
          <a:xfrm>
            <a:off x="5775808" y="23774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2" descr="/sessions/happy-inspiring-mayer/mnt/outputs/icons/lis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427" y="253105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3294" y="3246120"/>
            <a:ext cx="172510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חוקי השפה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279014" y="3886200"/>
            <a:ext cx="1633667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טבלאות נטייה מלאות לעיון, לכל בניין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69881" y="2011680"/>
            <a:ext cx="1999427" cy="3977640"/>
          </a:xfrm>
          <a:prstGeom prst="roundRect">
            <a:avLst>
              <a:gd name="adj" fmla="val 5488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2" name="Shape 17"/>
          <p:cNvSpPr/>
          <p:nvPr/>
        </p:nvSpPr>
        <p:spPr>
          <a:xfrm>
            <a:off x="8049555" y="2377440"/>
            <a:ext cx="640080" cy="640080"/>
          </a:xfrm>
          <a:prstGeom prst="ellipse">
            <a:avLst/>
          </a:prstGeom>
          <a:solidFill>
            <a:srgbClr val="DD725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3" name="Image 3" descr="/sessions/happy-inspiring-mayer/mnt/outputs/icons/mosqu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174" y="253105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07041" y="3246120"/>
            <a:ext cx="172510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אסלאם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552761" y="3886200"/>
            <a:ext cx="1633667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סונה מול שיעה, וחמשת עמודי האסלאם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643628" y="2011680"/>
            <a:ext cx="1999427" cy="3977640"/>
          </a:xfrm>
          <a:prstGeom prst="roundRect">
            <a:avLst>
              <a:gd name="adj" fmla="val 5488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7" name="Shape 21"/>
          <p:cNvSpPr/>
          <p:nvPr/>
        </p:nvSpPr>
        <p:spPr>
          <a:xfrm>
            <a:off x="10323302" y="2377440"/>
            <a:ext cx="640080" cy="640080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8" name="Image 4" descr="/sessions/happy-inspiring-mayer/mnt/outputs/icons/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6921" y="253105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80788" y="3246120"/>
            <a:ext cx="172510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 חופשי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9826508" y="3886200"/>
            <a:ext cx="1633667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 בכל 400 המילים — עברית/ערבית/תעתיק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סיור באתר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סיור באתר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עמודים מרכזיים מתוך החוויה בפועל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49240" cy="292608"/>
          </a:xfrm>
          <a:prstGeom prst="roundRect">
            <a:avLst>
              <a:gd name="adj" fmla="val 28125"/>
            </a:avLst>
          </a:prstGeom>
          <a:solidFill>
            <a:srgbClr val="095C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6217920" y="2066544"/>
            <a:ext cx="5349240" cy="146304"/>
          </a:xfrm>
          <a:prstGeom prst="rect">
            <a:avLst/>
          </a:prstGeom>
          <a:solidFill>
            <a:srgbClr val="095C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11311128" y="2011680"/>
            <a:ext cx="109728" cy="10972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11109960" y="20116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10908792" y="2011680"/>
            <a:ext cx="109728" cy="109728"/>
          </a:xfrm>
          <a:prstGeom prst="ellipse">
            <a:avLst/>
          </a:prstGeom>
          <a:solidFill>
            <a:srgbClr val="4FA9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355080" y="192024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עמוד הבית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2624328"/>
            <a:ext cx="1213866" cy="685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6373368" y="2871216"/>
            <a:ext cx="1177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642098" y="2624328"/>
            <a:ext cx="1213866" cy="685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7660386" y="2871216"/>
            <a:ext cx="1177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חוקי השפה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929116" y="2624328"/>
            <a:ext cx="1213866" cy="685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8947404" y="2871216"/>
            <a:ext cx="1177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פעלים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216134" y="2624328"/>
            <a:ext cx="1213866" cy="6858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10234422" y="2871216"/>
            <a:ext cx="11772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אוצר מילים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55080" y="2249424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أهلاً وسهلاً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2450592"/>
            <a:ext cx="5074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ברוכים הבאים לאתר ArabEz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55080" y="394106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קבלת פנים חמה עם 4 קיצורי דרך לתכנים המרכזיים באתר.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19202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548640" y="1920240"/>
            <a:ext cx="5349240" cy="292608"/>
          </a:xfrm>
          <a:prstGeom prst="roundRect">
            <a:avLst>
              <a:gd name="adj" fmla="val 28125"/>
            </a:avLst>
          </a:prstGeom>
          <a:solidFill>
            <a:srgbClr val="095C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548640" y="2066544"/>
            <a:ext cx="5349240" cy="146304"/>
          </a:xfrm>
          <a:prstGeom prst="rect">
            <a:avLst/>
          </a:prstGeom>
          <a:solidFill>
            <a:srgbClr val="095C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5641848" y="2011680"/>
            <a:ext cx="109728" cy="10972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5440680" y="20116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5239512" y="2011680"/>
            <a:ext cx="109728" cy="109728"/>
          </a:xfrm>
          <a:prstGeom prst="ellipse">
            <a:avLst/>
          </a:prstGeom>
          <a:solidFill>
            <a:srgbClr val="4FA9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685800" y="192024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אוצר מילים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2304288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713232" y="233172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13232" y="2596896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מילים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1714500" y="2304288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34"/>
          <p:cNvSpPr/>
          <p:nvPr/>
        </p:nvSpPr>
        <p:spPr>
          <a:xfrm>
            <a:off x="1741932" y="233172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741932" y="2596896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מילים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743200" y="2304288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2770632" y="233172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770632" y="2596896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מילים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3771900" y="2304288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Text 40"/>
          <p:cNvSpPr/>
          <p:nvPr/>
        </p:nvSpPr>
        <p:spPr>
          <a:xfrm>
            <a:off x="3799332" y="233172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799332" y="2596896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מילים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800600" y="2304288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Text 43"/>
          <p:cNvSpPr/>
          <p:nvPr/>
        </p:nvSpPr>
        <p:spPr>
          <a:xfrm>
            <a:off x="4828032" y="233172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828032" y="2596896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מילים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685800" y="2944368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Text 46"/>
          <p:cNvSpPr/>
          <p:nvPr/>
        </p:nvSpPr>
        <p:spPr>
          <a:xfrm>
            <a:off x="713232" y="297180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13232" y="3236976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מילים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1714500" y="2944368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Text 49"/>
          <p:cNvSpPr/>
          <p:nvPr/>
        </p:nvSpPr>
        <p:spPr>
          <a:xfrm>
            <a:off x="1741932" y="297180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741932" y="3236976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מילים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2743200" y="2944368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Text 52"/>
          <p:cNvSpPr/>
          <p:nvPr/>
        </p:nvSpPr>
        <p:spPr>
          <a:xfrm>
            <a:off x="2770632" y="297180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770632" y="3236976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מילים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3771900" y="2944368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Text 55"/>
          <p:cNvSpPr/>
          <p:nvPr/>
        </p:nvSpPr>
        <p:spPr>
          <a:xfrm>
            <a:off x="3799332" y="297180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799332" y="3236976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מילים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4800600" y="2944368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Text 58"/>
          <p:cNvSpPr/>
          <p:nvPr/>
        </p:nvSpPr>
        <p:spPr>
          <a:xfrm>
            <a:off x="4828032" y="2971800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828032" y="3236976"/>
            <a:ext cx="905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מילים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85800" y="394106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פרקים, 40 מילים בכל פרק, עם מד התקדמות אישי לכל אחד.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217920" y="45262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64" name="Shape 62"/>
          <p:cNvSpPr/>
          <p:nvPr/>
        </p:nvSpPr>
        <p:spPr>
          <a:xfrm>
            <a:off x="6217920" y="4526280"/>
            <a:ext cx="5349240" cy="292608"/>
          </a:xfrm>
          <a:prstGeom prst="roundRect">
            <a:avLst>
              <a:gd name="adj" fmla="val 28125"/>
            </a:avLst>
          </a:prstGeom>
          <a:solidFill>
            <a:srgbClr val="095C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5" name="Shape 63"/>
          <p:cNvSpPr/>
          <p:nvPr/>
        </p:nvSpPr>
        <p:spPr>
          <a:xfrm>
            <a:off x="6217920" y="4672584"/>
            <a:ext cx="5349240" cy="146304"/>
          </a:xfrm>
          <a:prstGeom prst="rect">
            <a:avLst/>
          </a:prstGeom>
          <a:solidFill>
            <a:srgbClr val="095C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6" name="Shape 64"/>
          <p:cNvSpPr/>
          <p:nvPr/>
        </p:nvSpPr>
        <p:spPr>
          <a:xfrm>
            <a:off x="11311128" y="4617720"/>
            <a:ext cx="109728" cy="10972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7" name="Shape 65"/>
          <p:cNvSpPr/>
          <p:nvPr/>
        </p:nvSpPr>
        <p:spPr>
          <a:xfrm>
            <a:off x="11109960" y="461772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8" name="Shape 66"/>
          <p:cNvSpPr/>
          <p:nvPr/>
        </p:nvSpPr>
        <p:spPr>
          <a:xfrm>
            <a:off x="10908792" y="4617720"/>
            <a:ext cx="109728" cy="109728"/>
          </a:xfrm>
          <a:prstGeom prst="ellipse">
            <a:avLst/>
          </a:prstGeom>
          <a:solidFill>
            <a:srgbClr val="4FA9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9" name="Text 67"/>
          <p:cNvSpPr/>
          <p:nvPr/>
        </p:nvSpPr>
        <p:spPr>
          <a:xfrm>
            <a:off x="6355080" y="452628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חוקי השפה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355080" y="5001768"/>
            <a:ext cx="1213866" cy="1371600"/>
          </a:xfrm>
          <a:prstGeom prst="roundRect">
            <a:avLst>
              <a:gd name="adj" fmla="val 4520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1" name="Text 69"/>
          <p:cNvSpPr/>
          <p:nvPr/>
        </p:nvSpPr>
        <p:spPr>
          <a:xfrm>
            <a:off x="6400800" y="5230368"/>
            <a:ext cx="11224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ערך היתרון / ההפלגה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642098" y="5001768"/>
            <a:ext cx="1213866" cy="1371600"/>
          </a:xfrm>
          <a:prstGeom prst="roundRect">
            <a:avLst>
              <a:gd name="adj" fmla="val 4520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3" name="Text 71"/>
          <p:cNvSpPr/>
          <p:nvPr/>
        </p:nvSpPr>
        <p:spPr>
          <a:xfrm>
            <a:off x="7687818" y="5230368"/>
            <a:ext cx="11224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הניקוד הסופי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929116" y="5001768"/>
            <a:ext cx="1213866" cy="1371600"/>
          </a:xfrm>
          <a:prstGeom prst="roundRect">
            <a:avLst>
              <a:gd name="adj" fmla="val 4520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5" name="Text 73"/>
          <p:cNvSpPr/>
          <p:nvPr/>
        </p:nvSpPr>
        <p:spPr>
          <a:xfrm>
            <a:off x="8974836" y="5230368"/>
            <a:ext cx="11224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צלה / צפה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216134" y="5001768"/>
            <a:ext cx="1213866" cy="1371600"/>
          </a:xfrm>
          <a:prstGeom prst="roundRect">
            <a:avLst>
              <a:gd name="adj" fmla="val 4520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7" name="Text 75"/>
          <p:cNvSpPr/>
          <p:nvPr/>
        </p:nvSpPr>
        <p:spPr>
          <a:xfrm>
            <a:off x="10261854" y="5230368"/>
            <a:ext cx="11224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הבניינים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355080" y="654710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כרטיסי עיון בדקדוק הספרותי — מהניקוד ועד תבניות המשפט.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548640" y="45262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0" name="Shape 78"/>
          <p:cNvSpPr/>
          <p:nvPr/>
        </p:nvSpPr>
        <p:spPr>
          <a:xfrm>
            <a:off x="548640" y="4526280"/>
            <a:ext cx="5349240" cy="292608"/>
          </a:xfrm>
          <a:prstGeom prst="roundRect">
            <a:avLst>
              <a:gd name="adj" fmla="val 28125"/>
            </a:avLst>
          </a:prstGeom>
          <a:solidFill>
            <a:srgbClr val="095C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1" name="Shape 79"/>
          <p:cNvSpPr/>
          <p:nvPr/>
        </p:nvSpPr>
        <p:spPr>
          <a:xfrm>
            <a:off x="548640" y="4672584"/>
            <a:ext cx="5349240" cy="146304"/>
          </a:xfrm>
          <a:prstGeom prst="rect">
            <a:avLst/>
          </a:prstGeom>
          <a:solidFill>
            <a:srgbClr val="095C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2" name="Shape 80"/>
          <p:cNvSpPr/>
          <p:nvPr/>
        </p:nvSpPr>
        <p:spPr>
          <a:xfrm>
            <a:off x="5641848" y="4617720"/>
            <a:ext cx="109728" cy="109728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3" name="Shape 81"/>
          <p:cNvSpPr/>
          <p:nvPr/>
        </p:nvSpPr>
        <p:spPr>
          <a:xfrm>
            <a:off x="5440680" y="461772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4" name="Shape 82"/>
          <p:cNvSpPr/>
          <p:nvPr/>
        </p:nvSpPr>
        <p:spPr>
          <a:xfrm>
            <a:off x="5239512" y="4617720"/>
            <a:ext cx="109728" cy="109728"/>
          </a:xfrm>
          <a:prstGeom prst="ellipse">
            <a:avLst/>
          </a:prstGeom>
          <a:solidFill>
            <a:srgbClr val="4FA9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5" name="Text 83"/>
          <p:cNvSpPr/>
          <p:nvPr/>
        </p:nvSpPr>
        <p:spPr>
          <a:xfrm>
            <a:off x="685800" y="452628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אסלאם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685800" y="5001768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7" name="Text 85"/>
          <p:cNvSpPr/>
          <p:nvPr/>
        </p:nvSpPr>
        <p:spPr>
          <a:xfrm>
            <a:off x="758952" y="5111496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סונה ושיעה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58952" y="544068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הזרמים המרכזיים באסלאם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291840" y="5001768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3D7B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0" name="Text 88"/>
          <p:cNvSpPr/>
          <p:nvPr/>
        </p:nvSpPr>
        <p:spPr>
          <a:xfrm>
            <a:off x="3364992" y="5111496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חמשת עמודי האסלאם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364992" y="544068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החובות הדתיות הבסיסיות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85800" y="654710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תרבותי-דתי המשלים את הלמידה הלשונית.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 וחוויית משתמש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"צבעים יפים עם טקסטורות ואינטראקטיביות" — ההנחיה שהובילה את העיצוב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5074920" y="22860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9" name="Image 0" descr="/sessions/happy-inspiring-mayer/mnt/outputs/icons/dropl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594" y="241767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2860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פלטת צבעים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22960" y="26974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טורקיז עמוק כצבע ראשי, זהב חם למשני, ונגיעות טרה-קוטה לאקצנטים — על רקע שנהב חמים ולא לבן קר.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20116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10"/>
          <p:cNvSpPr/>
          <p:nvPr/>
        </p:nvSpPr>
        <p:spPr>
          <a:xfrm>
            <a:off x="10744200" y="22860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Image 1" descr="/sessions/happy-inspiring-mayer/mnt/outputs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5874" y="241767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92240" y="22860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טקסטורות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492240" y="26974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 גיאומטריות בהשראת אמנות אסלאמית ברקע, בעדינות (opacity נמוכה) שלא מסיחה את הדעת.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2519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Shape 14"/>
          <p:cNvSpPr/>
          <p:nvPr/>
        </p:nvSpPr>
        <p:spPr>
          <a:xfrm>
            <a:off x="5074920" y="45262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9" name="Image 2" descr="/sessions/happy-inspiring-mayer/mnt/outputs/icons/typ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6594" y="465795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45262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טיפוגרפיה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22960" y="493776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פונטים ערביים איכותיים (Amiri, Cairo, Noto Naskh Arabic) לצד פונט עברי נקי (Rubik) לממשק.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17920" y="42519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Shape 18"/>
          <p:cNvSpPr/>
          <p:nvPr/>
        </p:nvSpPr>
        <p:spPr>
          <a:xfrm>
            <a:off x="10744200" y="45262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4" name="Image 3" descr="/sessions/happy-inspiring-mayer/mnt/outputs/icons/activit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5874" y="465795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92240" y="45262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אינטראקטיביות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6492240" y="493776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כרטיסיות היפוך אנימטיביות, פס התקדמות, משוב ויזואלי מיידי, ונגישות מלאה ברמת WCAG AA.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אתגרים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אתגרי הפיתוח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2011680" y="2331720"/>
            <a:ext cx="594360" cy="594360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8" name="Image 0" descr="/sessions/happy-inspiring-mayer/mnt/outputs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326" y="2474366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54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דיוק דקדוקי מוחלט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79476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בניגוד לכלים שמנחשים, נדרש אלגוריתם דטרמיניסטי וקבוע-כללים. כל נטייה נבדקת מול בדיקות יחידה לכל בניין לפני שהיא נחשבת מוכנה — כדי שלא תטעה אף לומד.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9120" y="20116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9"/>
          <p:cNvSpPr/>
          <p:nvPr/>
        </p:nvSpPr>
        <p:spPr>
          <a:xfrm>
            <a:off x="5852160" y="2331720"/>
            <a:ext cx="594360" cy="594360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1" descr="/sessions/happy-inspiring-mayer/mnt/outputs/icons/typ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806" y="247436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154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כיווניות מעורבת (RTL)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379476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עברית וערבית שתיהן RTL, אך דורשות טיפול נפרד ביישור טבלאות נטייה, ניקוד ותעתיק לצד הכתיב הערבי — בלי לפגוע בקריאות.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0" y="20116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3"/>
          <p:cNvSpPr/>
          <p:nvPr/>
        </p:nvSpPr>
        <p:spPr>
          <a:xfrm>
            <a:off x="9692640" y="2331720"/>
            <a:ext cx="594360" cy="594360"/>
          </a:xfrm>
          <a:prstGeom prst="ellipse">
            <a:avLst/>
          </a:prstGeom>
          <a:solidFill>
            <a:srgbClr val="C1502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2" descr="/sessions/happy-inspiring-mayer/mnt/outputs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5286" y="247436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154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 להרחבה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58200" y="379476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שמירה על קבצי נתונים נפרדים (JS/JSON) כדי שהוספת פרקים או פעלים בעתיד לא תדרוש נגיעה בלוגיקת האתר.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</a:t>
            </a: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76895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1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מבט קדימה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38648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הלאה — הרחבות עתידיות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הארכיטקטורה מתוכננת מראש כך שאלו לא יחייבו שינוי בליבת האתר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554480" y="260604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9" name="Image 0" descr="/sessions/happy-inspiring-mayer/mnt/outputs/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126" y="2748686"/>
            <a:ext cx="309067" cy="3090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הגייה קולית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הקראה אודיו לכל מילה בפרקי אוצר המילים ולכל צורת נטייה של פועל.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29000" y="228600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10"/>
          <p:cNvSpPr/>
          <p:nvPr/>
        </p:nvSpPr>
        <p:spPr>
          <a:xfrm>
            <a:off x="4434840" y="260604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Image 1" descr="/sessions/happy-inspiring-mayer/mnt/outputs/icons/edi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486" y="2748686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משפטי דוגמה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611880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בהקשר מלא — לא רק מילה בודדת — לכל ערך באוצר המילים ולכל שורש.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09360" y="228600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Shape 14"/>
          <p:cNvSpPr/>
          <p:nvPr/>
        </p:nvSpPr>
        <p:spPr>
          <a:xfrm>
            <a:off x="7315200" y="260604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9" name="Image 2" descr="/sessions/happy-inspiring-mayer/mnt/outputs/icons/ha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7846" y="2748686"/>
            <a:ext cx="309067" cy="30906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בניין IX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92240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השלמת מנוע הבניינים בתבנית הייעודית לצבעים ומומים, שנדחתה בשלב זה.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89720" y="228600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2700">
            <a:solidFill>
              <a:srgbClr val="E3D7BD"/>
            </a:solidFill>
            <a:prstDash val="solid"/>
          </a:ln>
          <a:effectLst>
            <a:outerShdw blurRad="76200" dist="25400" dir="5400000" algn="bl" rotWithShape="0">
              <a:srgbClr val="2B242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Shape 18"/>
          <p:cNvSpPr/>
          <p:nvPr/>
        </p:nvSpPr>
        <p:spPr>
          <a:xfrm>
            <a:off x="10195560" y="260604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4" name="Image 3" descr="/sessions/happy-inspiring-mayer/mnt/outputs/icons/boo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8206" y="2748686"/>
            <a:ext cx="309067" cy="30906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26880" y="3429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פרקי מילים נוספים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372600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הרחבת אוצר המילים מעבר ל-10 הפרקים הראשונים, על אותה תשתית נתונים.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5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7432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 rot="2700000">
            <a:off x="13258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 rot="2700000">
            <a:off x="29260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 rot="2700000">
            <a:off x="45262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 rot="2700000">
            <a:off x="61264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 rot="2700000">
            <a:off x="77266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 rot="2700000">
            <a:off x="93268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 rot="2700000">
            <a:off x="10927080" y="-27432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 rot="2700000">
            <a:off x="-27432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 rot="2700000">
            <a:off x="13258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 rot="2700000">
            <a:off x="29260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 rot="2700000">
            <a:off x="45262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 rot="2700000">
            <a:off x="61264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 rot="2700000">
            <a:off x="77266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 rot="2700000">
            <a:off x="93268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 rot="2700000">
            <a:off x="10927080" y="13258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 rot="2700000">
            <a:off x="-27432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 rot="2700000">
            <a:off x="13258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 rot="2700000">
            <a:off x="29260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 rot="2700000">
            <a:off x="45262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 rot="2700000">
            <a:off x="61264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 rot="2700000">
            <a:off x="77266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 rot="2700000">
            <a:off x="93268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 rot="2700000">
            <a:off x="10927080" y="29260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 rot="2700000">
            <a:off x="-27432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 rot="2700000">
            <a:off x="13258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 rot="2700000">
            <a:off x="29260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 rot="2700000">
            <a:off x="45262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 rot="2700000">
            <a:off x="61264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Shape 29"/>
          <p:cNvSpPr/>
          <p:nvPr/>
        </p:nvSpPr>
        <p:spPr>
          <a:xfrm rot="2700000">
            <a:off x="77266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30"/>
          <p:cNvSpPr/>
          <p:nvPr/>
        </p:nvSpPr>
        <p:spPr>
          <a:xfrm rot="2700000">
            <a:off x="93268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1"/>
          <p:cNvSpPr/>
          <p:nvPr/>
        </p:nvSpPr>
        <p:spPr>
          <a:xfrm rot="2700000">
            <a:off x="10927080" y="45262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 rot="2700000">
            <a:off x="-27432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 rot="2700000">
            <a:off x="13258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Shape 34"/>
          <p:cNvSpPr/>
          <p:nvPr/>
        </p:nvSpPr>
        <p:spPr>
          <a:xfrm rot="2700000">
            <a:off x="29260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 rot="2700000">
            <a:off x="45262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 rot="2700000">
            <a:off x="61264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7"/>
          <p:cNvSpPr/>
          <p:nvPr/>
        </p:nvSpPr>
        <p:spPr>
          <a:xfrm rot="2700000">
            <a:off x="77266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8"/>
          <p:cNvSpPr/>
          <p:nvPr/>
        </p:nvSpPr>
        <p:spPr>
          <a:xfrm rot="2700000">
            <a:off x="93268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Shape 39"/>
          <p:cNvSpPr/>
          <p:nvPr/>
        </p:nvSpPr>
        <p:spPr>
          <a:xfrm rot="2700000">
            <a:off x="10927080" y="6126480"/>
            <a:ext cx="992124" cy="992124"/>
          </a:xfrm>
          <a:prstGeom prst="rect">
            <a:avLst/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5547208" y="1371600"/>
            <a:ext cx="1097280" cy="10972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3" name="Text 41"/>
          <p:cNvSpPr/>
          <p:nvPr/>
        </p:nvSpPr>
        <p:spPr>
          <a:xfrm>
            <a:off x="5547208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9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en-US" sz="4200" dirty="0"/>
          </a:p>
        </p:txBody>
      </p:sp>
      <p:sp>
        <p:nvSpPr>
          <p:cNvPr id="44" name="Text 42"/>
          <p:cNvSpPr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בואו ללמוד ערבית בקלות</a:t>
            </a:r>
            <a:endParaRPr lang="en-US" sz="3800" dirty="0"/>
          </a:p>
        </p:txBody>
      </p:sp>
      <p:sp>
        <p:nvSpPr>
          <p:cNvPr id="45" name="Text 43"/>
          <p:cNvSpPr/>
          <p:nvPr/>
        </p:nvSpPr>
        <p:spPr>
          <a:xfrm>
            <a:off x="1523848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2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ArabEz — פתוח, חינמי, וזמין בכל דפדפן, בלי התקנה ובלי חשבון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718408" y="44348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5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 ·  ללא build, ללא שרת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0" y="56235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1091</Words>
  <Application>Microsoft Macintosh PowerPoint</Application>
  <PresentationFormat>מסך רחב</PresentationFormat>
  <Paragraphs>211</Paragraphs>
  <Slides>13</Slides>
  <Notes>13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שי גרבי</cp:lastModifiedBy>
  <cp:revision>2</cp:revision>
  <dcterms:created xsi:type="dcterms:W3CDTF">2026-07-17T13:04:37Z</dcterms:created>
  <dcterms:modified xsi:type="dcterms:W3CDTF">2026-07-17T13:10:16Z</dcterms:modified>
</cp:coreProperties>
</file>